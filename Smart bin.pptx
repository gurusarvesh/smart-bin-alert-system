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0" r:id="rId1"/>
  </p:sldMasterIdLst>
  <p:notesMasterIdLst>
    <p:notesMasterId r:id="rId19"/>
  </p:notesMasterIdLst>
  <p:sldIdLst>
    <p:sldId id="291" r:id="rId2"/>
    <p:sldId id="298" r:id="rId3"/>
    <p:sldId id="315" r:id="rId4"/>
    <p:sldId id="299" r:id="rId5"/>
    <p:sldId id="300" r:id="rId6"/>
    <p:sldId id="302" r:id="rId7"/>
    <p:sldId id="303" r:id="rId8"/>
    <p:sldId id="304" r:id="rId9"/>
    <p:sldId id="305" r:id="rId10"/>
    <p:sldId id="301" r:id="rId11"/>
    <p:sldId id="306" r:id="rId12"/>
    <p:sldId id="307" r:id="rId13"/>
    <p:sldId id="310" r:id="rId14"/>
    <p:sldId id="311" r:id="rId15"/>
    <p:sldId id="312" r:id="rId16"/>
    <p:sldId id="314" r:id="rId17"/>
    <p:sldId id="297" r:id="rId1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232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1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4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47-D6B2-43BB-A877-57F1A267B999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B31D2-2A87-4F4C-A9AD-05C6CC2B32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7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35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31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8AD7-8103-40F8-983C-E2BA6BB9CBE0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70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06B4-9380-4A4D-AF49-A3596E17DAF5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F15F3-5E77-4C57-9E21-50D6D1D6C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1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EF1-C582-4E22-9E77-D68326471F28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169A-B3C7-4FB6-967F-AF95F4EB33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819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3A68-6922-42D3-8905-ECC2D82A3469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D027-5576-4F27-AAB6-1D994836EE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28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E9F4-7604-4950-A8B2-8ACDEDB1506E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CE61-8714-431B-A40A-01B1C5541A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37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6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A9602-A9A9-453F-AEF1-37B5837E02C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6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6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10895007" TargetMode="External"/><Relationship Id="rId2" Type="http://schemas.openxmlformats.org/officeDocument/2006/relationships/hyperlink" Target="https://scholar.google.com/scholar?q=IoT-Driven+Smart+Waste+Management+System+for+Smart+Cities+using+SVM+and+KNN+Models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ieeexplore.ieee.org/abstract/document/11073877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3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042483B8-4CA5-24D1-7781-4A183FC1A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5687" y="830263"/>
            <a:ext cx="8534400" cy="1085850"/>
          </a:xfrm>
        </p:spPr>
        <p:txBody>
          <a:bodyPr/>
          <a:lstStyle/>
          <a:p>
            <a:r>
              <a:rPr lang="en-US" sz="4000" b="1" dirty="0">
                <a:solidFill>
                  <a:srgbClr val="323232"/>
                </a:solidFill>
                <a:latin typeface="Garamond" panose="02020404030301010803" pitchFamily="18" charset="0"/>
              </a:rPr>
              <a:t>“Green society”</a:t>
            </a:r>
            <a:endParaRPr lang="en-IN" sz="4000" b="1" dirty="0">
              <a:solidFill>
                <a:srgbClr val="323232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7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0" y="-527050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BIN ALERT SYSTEM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7" y="2076450"/>
            <a:ext cx="9448800" cy="3948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just">
              <a:lnSpc>
                <a:spcPct val="2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Team Member: Gurusarvesh S</a:t>
            </a:r>
          </a:p>
          <a:p>
            <a:pPr algn="just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C9A0-EBC0-1AA5-1377-9993CDF5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Problem We Aim to Solve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79D9A-3D9B-9502-3BDB-4654D4BA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Overflowing bins in places like canteens, classrooms, and staff rooms create health hazards and unpleasant environments.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Manual waste collection is inefficient: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Bins are emptied at fixed times, regardless of fill level.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Some bins overflow before pickup, while others are empty.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real-time visibility of bin status for cleaning staff or administration.</a:t>
            </a:r>
          </a:p>
          <a:p>
            <a:r>
              <a:rPr lang="en-US" b="1" dirty="0">
                <a:solidFill>
                  <a:srgbClr val="00B050"/>
                </a:solidFill>
              </a:rPr>
              <a:t>👉 Need for a smart, efficient, and real-time solution.</a:t>
            </a:r>
            <a:endParaRPr lang="en-US" dirty="0">
              <a:solidFill>
                <a:srgbClr val="00B050"/>
              </a:solidFill>
            </a:endParaRP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D5B1D-3ABF-E2BE-D5EA-91256E70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4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6198"/>
            <a:ext cx="109728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51" y="1235081"/>
            <a:ext cx="5384800" cy="512128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4500" b="1" u="sng" dirty="0"/>
              <a:t> Earlier and recent iot enabled smart bins</a:t>
            </a:r>
          </a:p>
          <a:p>
            <a:r>
              <a:rPr lang="en-IN" sz="4500" dirty="0"/>
              <a:t>1 .</a:t>
            </a:r>
            <a:r>
              <a:rPr lang="en-IN" sz="4500" b="1" dirty="0"/>
              <a:t>IoT</a:t>
            </a:r>
            <a:r>
              <a:rPr lang="en-IN" sz="4500" dirty="0"/>
              <a:t> enabled smart bins indicates fill-level and uses motion sensors</a:t>
            </a:r>
          </a:p>
          <a:p>
            <a:r>
              <a:rPr lang="en-IN" sz="4500" dirty="0"/>
              <a:t>Wireless communication protocols for real time data transfer</a:t>
            </a:r>
          </a:p>
          <a:p>
            <a:r>
              <a:rPr lang="en-IN" sz="4500" b="1" dirty="0"/>
              <a:t>ML</a:t>
            </a:r>
            <a:r>
              <a:rPr lang="en-IN" sz="4500" dirty="0"/>
              <a:t> : SVM, KNN for waste classification</a:t>
            </a:r>
          </a:p>
          <a:p>
            <a:r>
              <a:rPr lang="en-IN" sz="4500" dirty="0"/>
              <a:t>Enables campus cleanliness  by predictive analytics</a:t>
            </a:r>
          </a:p>
          <a:p>
            <a:r>
              <a:rPr lang="en-IN" sz="3000" dirty="0">
                <a:hlinkClick r:id="rId2"/>
              </a:rPr>
              <a:t>IoT-Driven Smart Waste Management System for Smart... - Google Scholar</a:t>
            </a:r>
            <a:endParaRPr lang="en-US" sz="3000" dirty="0"/>
          </a:p>
          <a:p>
            <a:r>
              <a:rPr lang="en-IN" sz="4500" dirty="0"/>
              <a:t>2 .IoT sensors indicates fill levels.</a:t>
            </a:r>
          </a:p>
          <a:p>
            <a:r>
              <a:rPr lang="en-IN" sz="4500" b="1" dirty="0"/>
              <a:t>GSM module</a:t>
            </a:r>
            <a:r>
              <a:rPr lang="en-IN" sz="4500" dirty="0"/>
              <a:t> sends </a:t>
            </a:r>
            <a:r>
              <a:rPr lang="en-IN" sz="4500" b="1" dirty="0"/>
              <a:t>SMS alerts</a:t>
            </a:r>
            <a:r>
              <a:rPr lang="en-IN" sz="4500" dirty="0"/>
              <a:t> </a:t>
            </a:r>
          </a:p>
          <a:p>
            <a:r>
              <a:rPr lang="en-IN" sz="4500" dirty="0"/>
              <a:t>used </a:t>
            </a:r>
            <a:r>
              <a:rPr lang="en-IN" sz="4500" b="1" dirty="0"/>
              <a:t>Arduino</a:t>
            </a:r>
            <a:r>
              <a:rPr lang="en-IN" sz="4500" dirty="0"/>
              <a:t> for control</a:t>
            </a:r>
          </a:p>
          <a:p>
            <a:r>
              <a:rPr lang="en-IN" sz="3000" dirty="0">
                <a:hlinkClick r:id="rId3"/>
              </a:rPr>
              <a:t>Effective Smart Bin Monitoring System using Arduino and GSM Module | IEEE Conference Publication | IEEE Explore</a:t>
            </a:r>
            <a:endParaRPr lang="en-IN" sz="3000" dirty="0"/>
          </a:p>
          <a:p>
            <a:r>
              <a:rPr lang="en-IN" sz="4500" dirty="0"/>
              <a:t>3 .IoT Devices: Ultrasonic and temperature sensors to indicate bin levels</a:t>
            </a:r>
          </a:p>
          <a:p>
            <a:r>
              <a:rPr lang="en-IN" sz="4500" b="1" dirty="0"/>
              <a:t>Microcontroller</a:t>
            </a:r>
            <a:r>
              <a:rPr lang="en-IN" sz="4500" dirty="0"/>
              <a:t>: Atmega328P manages sensor data and system control</a:t>
            </a:r>
          </a:p>
          <a:p>
            <a:r>
              <a:rPr lang="en-IN" sz="4500" b="1" dirty="0"/>
              <a:t>Communication</a:t>
            </a:r>
            <a:r>
              <a:rPr lang="en-IN" sz="4500" dirty="0"/>
              <a:t>:  wifi module transmit data to </a:t>
            </a:r>
            <a:r>
              <a:rPr lang="en-IN" sz="4500" b="1" dirty="0"/>
              <a:t>MQTT protocol</a:t>
            </a:r>
            <a:r>
              <a:rPr lang="en-IN" sz="4500" dirty="0"/>
              <a:t> then saved in server</a:t>
            </a:r>
          </a:p>
          <a:p>
            <a:r>
              <a:rPr lang="en-US" sz="3000" dirty="0">
                <a:hlinkClick r:id="rId4"/>
              </a:rPr>
              <a:t>IoT-Integrated Smart Waste Management System with Real-Time Monitoring and Fault Detection | IEEE Conference Publication | IEEE Explore</a:t>
            </a:r>
            <a:endParaRPr lang="en-IN" sz="3000" dirty="0"/>
          </a:p>
          <a:p>
            <a:endParaRPr lang="en-US" sz="2400" dirty="0"/>
          </a:p>
          <a:p>
            <a:endParaRPr lang="en-US" sz="2400" dirty="0"/>
          </a:p>
          <a:p>
            <a:endParaRPr lang="en-IN" sz="2400" dirty="0"/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9293" y="1235081"/>
            <a:ext cx="5384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u="sng" dirty="0"/>
              <a:t>Disadvantages</a:t>
            </a:r>
          </a:p>
          <a:p>
            <a:r>
              <a:rPr lang="en-US" sz="1800" b="1" dirty="0"/>
              <a:t> High Setup Costs:</a:t>
            </a:r>
            <a:r>
              <a:rPr lang="en-US" sz="1800" dirty="0"/>
              <a:t> for smart bins, sensors, and wireless communication, GSM modules , maintenance</a:t>
            </a:r>
          </a:p>
          <a:p>
            <a:r>
              <a:rPr lang="en-US" sz="1800" dirty="0"/>
              <a:t>for large campuses.</a:t>
            </a:r>
          </a:p>
          <a:p>
            <a:r>
              <a:rPr lang="en-US" sz="1800" b="1" dirty="0"/>
              <a:t> Sensor Maintenance:</a:t>
            </a:r>
            <a:r>
              <a:rPr lang="en-US" sz="1800" dirty="0"/>
              <a:t> Sensors will malfunction in case of  battery drain ,temperature, signal issues, requiring regular checks </a:t>
            </a:r>
          </a:p>
          <a:p>
            <a:r>
              <a:rPr lang="en-US" sz="1800" b="1" dirty="0"/>
              <a:t>Network:  </a:t>
            </a:r>
            <a:r>
              <a:rPr lang="en-US" sz="1800" dirty="0"/>
              <a:t>Real-time tracking ,</a:t>
            </a:r>
            <a:r>
              <a:rPr lang="en-US" sz="1800" b="1" dirty="0"/>
              <a:t> </a:t>
            </a:r>
            <a:r>
              <a:rPr lang="en-US" sz="1800" dirty="0"/>
              <a:t>SMS alerts depends on stable internet or local network  </a:t>
            </a:r>
          </a:p>
          <a:p>
            <a:r>
              <a:rPr lang="en-US" sz="1800" b="1" dirty="0"/>
              <a:t>Model Limitations:</a:t>
            </a:r>
            <a:r>
              <a:rPr lang="en-US" sz="1800" dirty="0"/>
              <a:t> ML algorithms  will  misclassify waste types if the input data is inconsistent. </a:t>
            </a:r>
          </a:p>
          <a:p>
            <a:r>
              <a:rPr lang="en-US" sz="1800" b="1" dirty="0"/>
              <a:t> Data Privacy:</a:t>
            </a:r>
            <a:r>
              <a:rPr lang="en-US" sz="1800" dirty="0"/>
              <a:t> IoT systems collect vast data on locations, timing  so secure storage and authorized access is needed</a:t>
            </a:r>
          </a:p>
          <a:p>
            <a:r>
              <a:rPr lang="en-US" sz="1800" b="1" dirty="0"/>
              <a:t>Integration Complexity:</a:t>
            </a:r>
            <a:r>
              <a:rPr lang="en-US" sz="1800" dirty="0"/>
              <a:t> : Connecting  different building  can be technically challenging .</a:t>
            </a:r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633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487A5-264F-CC8B-EC8B-D14445440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Our Smart Solution at a Glance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3518B-7663-27B6-923F-D1209437B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Smart Bin System with IoT &amp; Web Dashboard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400" b="1" dirty="0"/>
              <a:t>Ultrasonic Sensor</a:t>
            </a:r>
            <a:r>
              <a:rPr lang="en-US" sz="2400" dirty="0"/>
              <a:t> detects the fill level of the bin.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b="1" dirty="0" err="1"/>
              <a:t>NodeMCU</a:t>
            </a:r>
            <a:r>
              <a:rPr lang="en-US" sz="2400" b="1" dirty="0"/>
              <a:t> Microcontroller</a:t>
            </a:r>
            <a:r>
              <a:rPr lang="en-US" sz="2400" dirty="0"/>
              <a:t> sends the sensor data using </a:t>
            </a:r>
            <a:r>
              <a:rPr lang="en-US" sz="2400" dirty="0" err="1"/>
              <a:t>WiFi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b="1" dirty="0" err="1"/>
              <a:t>Thingspeak</a:t>
            </a:r>
            <a:r>
              <a:rPr lang="en-US" sz="2400" b="1" dirty="0"/>
              <a:t> Cloud Platform</a:t>
            </a:r>
            <a:r>
              <a:rPr lang="en-US" sz="2400" dirty="0"/>
              <a:t> displays bin status and alerts.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b="1" dirty="0"/>
              <a:t>Web Dashboard</a:t>
            </a:r>
            <a:r>
              <a:rPr lang="en-US" sz="2400" dirty="0"/>
              <a:t> for real-time monitoring by cleaning staff.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b="1" dirty="0"/>
              <a:t>Analytics and Alerts</a:t>
            </a:r>
            <a:r>
              <a:rPr lang="en-US" sz="2400" dirty="0"/>
              <a:t> to optimize collection schedules and manpower.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b="1" dirty="0"/>
              <a:t>Outcome:</a:t>
            </a:r>
            <a:r>
              <a:rPr lang="en-US" sz="2400" dirty="0"/>
              <a:t> A cleaner, smarter, and more responsive waste management process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D1446-18F3-53FB-D9BC-20888E26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5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EF42-525B-A34D-CD1A-D7070433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61903"/>
            <a:ext cx="9649216" cy="739970"/>
          </a:xfrm>
        </p:spPr>
        <p:txBody>
          <a:bodyPr>
            <a:normAutofit fontScale="90000"/>
          </a:bodyPr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4B570-CCD3-39AF-F8F2-AB62CA85B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55" y="1139868"/>
            <a:ext cx="11219145" cy="558161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dirty="0"/>
              <a:t>Diagram:</a:t>
            </a:r>
          </a:p>
          <a:p>
            <a:pPr algn="just"/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algn="just"/>
            <a:endParaRPr lang="en-IN" sz="2000" b="1" dirty="0"/>
          </a:p>
          <a:p>
            <a:pPr algn="just"/>
            <a:endParaRPr lang="en-IN" sz="2000" b="1" dirty="0"/>
          </a:p>
          <a:p>
            <a:pPr algn="just"/>
            <a:endParaRPr lang="en-IN" sz="2000" b="1" dirty="0"/>
          </a:p>
          <a:p>
            <a:pPr algn="just"/>
            <a:endParaRPr lang="en-IN" sz="2000" b="1" dirty="0"/>
          </a:p>
          <a:p>
            <a:pPr algn="just"/>
            <a:endParaRPr lang="en-IN" sz="2000" b="1" dirty="0"/>
          </a:p>
          <a:p>
            <a:pPr marL="0" indent="0" algn="just">
              <a:buNone/>
            </a:pPr>
            <a:r>
              <a:rPr lang="en-IN" sz="2000" b="1" dirty="0"/>
              <a:t>Sensor </a:t>
            </a:r>
            <a:r>
              <a:rPr lang="en-IN" sz="2000" dirty="0"/>
              <a:t>detects fill level (in cm).</a:t>
            </a:r>
          </a:p>
          <a:p>
            <a:pPr algn="just"/>
            <a:r>
              <a:rPr lang="en-IN" sz="2000" b="1" dirty="0"/>
              <a:t>NodeMCU </a:t>
            </a:r>
            <a:r>
              <a:rPr lang="en-IN" sz="2000" dirty="0"/>
              <a:t>processes data and sends it to </a:t>
            </a:r>
            <a:r>
              <a:rPr lang="en-IN" sz="2000" b="1" dirty="0"/>
              <a:t>Thingspeak</a:t>
            </a:r>
            <a:r>
              <a:rPr lang="en-IN" sz="2000" dirty="0"/>
              <a:t> via </a:t>
            </a:r>
            <a:r>
              <a:rPr lang="en-IN" sz="2000" b="1" dirty="0"/>
              <a:t>MQTT protocol.</a:t>
            </a:r>
          </a:p>
          <a:p>
            <a:pPr algn="just"/>
            <a:r>
              <a:rPr lang="en-IN" sz="2000" dirty="0"/>
              <a:t>Data is visualized on a </a:t>
            </a:r>
            <a:r>
              <a:rPr lang="en-IN" sz="2000" b="1" dirty="0"/>
              <a:t>custom web dashboard </a:t>
            </a:r>
            <a:r>
              <a:rPr lang="en-IN" sz="2000" dirty="0"/>
              <a:t>(built using PHP/HTML/CSS).</a:t>
            </a:r>
          </a:p>
          <a:p>
            <a:pPr algn="just"/>
            <a:r>
              <a:rPr lang="en-IN" sz="2000" b="1" dirty="0"/>
              <a:t>Alerts sent via email/popup </a:t>
            </a:r>
            <a:r>
              <a:rPr lang="en-IN" sz="2000" dirty="0"/>
              <a:t>when bin is nearly full.</a:t>
            </a:r>
          </a:p>
          <a:p>
            <a:pPr algn="just"/>
            <a:r>
              <a:rPr lang="en-IN" sz="2000" dirty="0"/>
              <a:t>Admin/staff plan collection </a:t>
            </a:r>
            <a:r>
              <a:rPr lang="en-IN" sz="2000" b="1" dirty="0"/>
              <a:t>based on real-time data.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6E7F5-F06F-1E84-FF84-94B139AD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18CC3D13-8727-9766-3261-A3D308E16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426" y="1139868"/>
            <a:ext cx="4176684" cy="363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52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8C84-7561-535C-52A1-1BC347B0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Technology Stack</a:t>
            </a:r>
            <a:br>
              <a:rPr lang="en-IN" dirty="0"/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EDBEE-3C24-5C22-5158-4F21E759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756E2-8B27-0305-3052-A66B7DBF5C9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052513"/>
            <a:ext cx="12075090" cy="55308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/>
              <a:t>Software Components:</a:t>
            </a:r>
            <a:endParaRPr lang="en-IN" sz="2400" dirty="0"/>
          </a:p>
          <a:p>
            <a:r>
              <a:rPr lang="en-IN" sz="2400" dirty="0"/>
              <a:t>Frontend: HTML, CSS, JavaScript</a:t>
            </a:r>
          </a:p>
          <a:p>
            <a:r>
              <a:rPr lang="en-IN" sz="2400" dirty="0"/>
              <a:t>Backend: PHP + MySQL + XAMPP</a:t>
            </a:r>
          </a:p>
          <a:p>
            <a:r>
              <a:rPr lang="en-IN" sz="2400" dirty="0"/>
              <a:t>IoT Platform: Thingspeak  Server</a:t>
            </a:r>
          </a:p>
          <a:p>
            <a:pPr marL="0" indent="0">
              <a:buNone/>
            </a:pPr>
            <a:r>
              <a:rPr lang="en-IN" sz="2400" dirty="0"/>
              <a:t>                             (MQTT protocol)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Hardware Components:</a:t>
            </a:r>
            <a:endParaRPr lang="en-IN" sz="2400" dirty="0"/>
          </a:p>
          <a:p>
            <a:r>
              <a:rPr lang="en-IN" sz="2400" dirty="0"/>
              <a:t>NodeMCU (ESP8266 Wi-Fi module)</a:t>
            </a:r>
          </a:p>
          <a:p>
            <a:r>
              <a:rPr lang="en-IN" sz="2400" dirty="0"/>
              <a:t>Ultrasonic Sensor (HC-SR04)</a:t>
            </a:r>
          </a:p>
          <a:p>
            <a:r>
              <a:rPr lang="en-IN" sz="2400" dirty="0"/>
              <a:t>Rechargeable Power bank/Battery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Programming Languages:</a:t>
            </a:r>
            <a:endParaRPr lang="en-IN" sz="2400" dirty="0"/>
          </a:p>
          <a:p>
            <a:r>
              <a:rPr lang="en-IN" sz="2400" dirty="0"/>
              <a:t>Embedded C for firmware (NodeMCU)</a:t>
            </a:r>
          </a:p>
          <a:p>
            <a:r>
              <a:rPr lang="en-IN" sz="2400" dirty="0"/>
              <a:t>PHP for backend integration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9E5C57-A01F-BA31-AE21-7F8D00DC5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467" y="1255323"/>
            <a:ext cx="3008787" cy="1737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7A3045-F947-A094-8D4D-57F507004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613" y="1278040"/>
            <a:ext cx="3008787" cy="16924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5B3B91-B62F-77C1-79B7-2458A1E11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467" y="3872059"/>
            <a:ext cx="3008787" cy="17378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DCE37C-34D7-7B20-A364-239953FB947F}"/>
              </a:ext>
            </a:extLst>
          </p:cNvPr>
          <p:cNvSpPr txBox="1"/>
          <p:nvPr/>
        </p:nvSpPr>
        <p:spPr>
          <a:xfrm>
            <a:off x="5061467" y="3080099"/>
            <a:ext cx="3020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Fig1. Compiling Dustbin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118A02-3033-2ACF-E3EF-018EB9784A09}"/>
              </a:ext>
            </a:extLst>
          </p:cNvPr>
          <p:cNvSpPr txBox="1"/>
          <p:nvPr/>
        </p:nvSpPr>
        <p:spPr>
          <a:xfrm>
            <a:off x="8573613" y="3116373"/>
            <a:ext cx="2869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Fig2. Configuring Thinkspeak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924607-5FB8-526A-25D6-3C7F4D2CA9D9}"/>
              </a:ext>
            </a:extLst>
          </p:cNvPr>
          <p:cNvSpPr txBox="1"/>
          <p:nvPr/>
        </p:nvSpPr>
        <p:spPr>
          <a:xfrm>
            <a:off x="5061467" y="5714327"/>
            <a:ext cx="2450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Fig3. Configuring xampp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8F7F61-566A-5DA6-EE9A-42FEE154CAF8}"/>
              </a:ext>
            </a:extLst>
          </p:cNvPr>
          <p:cNvSpPr txBox="1"/>
          <p:nvPr/>
        </p:nvSpPr>
        <p:spPr>
          <a:xfrm>
            <a:off x="9296658" y="5685007"/>
            <a:ext cx="2141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Fig4. Developed web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480" y="3717621"/>
            <a:ext cx="2793304" cy="189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31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C66EC-6D1C-8B1E-B987-FADB922A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296862"/>
            <a:ext cx="10972800" cy="1143000"/>
          </a:xfrm>
        </p:spPr>
        <p:txBody>
          <a:bodyPr/>
          <a:lstStyle/>
          <a:p>
            <a:r>
              <a:rPr lang="en-IN" dirty="0"/>
              <a:t>Prototype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43802-25A1-EBD7-8E7A-CAE82BF99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82" y="663879"/>
            <a:ext cx="11962356" cy="605760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images/screenshots with brief captions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Sensor Setup</a:t>
            </a:r>
            <a:r>
              <a:rPr lang="en-IN" sz="2400" dirty="0"/>
              <a:t>: Ultrasonic sensor mounted in bin </a:t>
            </a:r>
          </a:p>
          <a:p>
            <a:pPr marL="0" indent="0">
              <a:buNone/>
            </a:pPr>
            <a:r>
              <a:rPr lang="en-IN" sz="2400" b="1" dirty="0"/>
              <a:t>Firmware Code</a:t>
            </a:r>
            <a:r>
              <a:rPr lang="en-IN" sz="2400" dirty="0"/>
              <a:t>: C program to calculate fill percentage</a:t>
            </a:r>
          </a:p>
          <a:p>
            <a:pPr marL="0" indent="0">
              <a:buNone/>
            </a:pPr>
            <a:r>
              <a:rPr lang="en-IN" sz="2400" b="1" dirty="0"/>
              <a:t>Cloud Configuration</a:t>
            </a:r>
            <a:r>
              <a:rPr lang="en-IN" sz="2400" dirty="0"/>
              <a:t>: Thingspeak MQTT settings</a:t>
            </a:r>
          </a:p>
          <a:p>
            <a:pPr marL="0" indent="0">
              <a:buNone/>
            </a:pPr>
            <a:r>
              <a:rPr lang="en-IN" sz="2400" b="1" dirty="0"/>
              <a:t>Web Dashboard</a:t>
            </a:r>
            <a:r>
              <a:rPr lang="en-IN" sz="2400" dirty="0"/>
              <a:t>: Live data, bin status, alerts</a:t>
            </a:r>
          </a:p>
          <a:p>
            <a:pPr marL="0" indent="0">
              <a:buNone/>
            </a:pPr>
            <a:r>
              <a:rPr lang="en-IN" sz="2400" b="1" dirty="0"/>
              <a:t>Testing Output</a:t>
            </a:r>
            <a:r>
              <a:rPr lang="en-IN" sz="2400" dirty="0"/>
              <a:t>: Simulated bin fills triggering alerts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965A3-AC4F-75D0-2FD5-0DD36E70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389" y="1340288"/>
            <a:ext cx="6876611" cy="237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432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FDA16-1F44-44CE-5A01-4261EFB9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Advantages of Our Model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910E6B-2183-30D2-761F-985BE6025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059356"/>
              </p:ext>
            </p:extLst>
          </p:nvPr>
        </p:nvGraphicFramePr>
        <p:xfrm>
          <a:off x="605790" y="2366010"/>
          <a:ext cx="10976610" cy="2594454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661410">
                  <a:extLst>
                    <a:ext uri="{9D8B030D-6E8A-4147-A177-3AD203B41FA5}">
                      <a16:colId xmlns:a16="http://schemas.microsoft.com/office/drawing/2014/main" val="107219592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915551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642508169"/>
                    </a:ext>
                  </a:extLst>
                </a:gridCol>
              </a:tblGrid>
              <a:tr h="432409">
                <a:tc>
                  <a:txBody>
                    <a:bodyPr/>
                    <a:lstStyle/>
                    <a:p>
                      <a:r>
                        <a:rPr lang="en-IN" b="1" dirty="0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Existing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Our Smart Bin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55741"/>
                  </a:ext>
                </a:extLst>
              </a:tr>
              <a:tr h="432409">
                <a:tc>
                  <a:txBody>
                    <a:bodyPr/>
                    <a:lstStyle/>
                    <a:p>
                      <a:r>
                        <a:rPr lang="en-IN"/>
                        <a:t>Real-time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5171866"/>
                  </a:ext>
                </a:extLst>
              </a:tr>
              <a:tr h="432409">
                <a:tc>
                  <a:txBody>
                    <a:bodyPr/>
                    <a:lstStyle/>
                    <a:p>
                      <a:r>
                        <a:rPr lang="en-IN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✅ Low-Cost Prototype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305138"/>
                  </a:ext>
                </a:extLst>
              </a:tr>
              <a:tr h="432409">
                <a:tc>
                  <a:txBody>
                    <a:bodyPr/>
                    <a:lstStyle/>
                    <a:p>
                      <a:r>
                        <a:rPr lang="en-IN" dirty="0"/>
                        <a:t>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Manual Checking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Auto notification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874012"/>
                  </a:ext>
                </a:extLst>
              </a:tr>
              <a:tr h="432409">
                <a:tc>
                  <a:txBody>
                    <a:bodyPr/>
                    <a:lstStyle/>
                    <a:p>
                      <a:r>
                        <a:rPr lang="en-IN"/>
                        <a:t>User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Often 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✅ Full Web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459763"/>
                  </a:ext>
                </a:extLst>
              </a:tr>
              <a:tr h="432409">
                <a:tc>
                  <a:txBody>
                    <a:bodyPr/>
                    <a:lstStyle/>
                    <a:p>
                      <a:r>
                        <a:rPr lang="en-IN"/>
                        <a:t>Data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Trends &amp;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980766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E97C9-43F0-14F6-E427-3D537E0F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4085E-7D29-5901-863C-E361DC8C7382}"/>
              </a:ext>
            </a:extLst>
          </p:cNvPr>
          <p:cNvSpPr txBox="1"/>
          <p:nvPr/>
        </p:nvSpPr>
        <p:spPr>
          <a:xfrm>
            <a:off x="2934653" y="5289080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</a:t>
            </a:r>
            <a:r>
              <a:rPr lang="en-US" b="1" dirty="0"/>
              <a:t>Additional Edge:</a:t>
            </a:r>
            <a:r>
              <a:rPr lang="en-US" dirty="0"/>
              <a:t> Scope for AI/ML and solar integration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6683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9613-332B-207B-8361-38F22140D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Feasibility &amp; Cost Estimation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0239895-A2E8-845C-214E-9264681509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2125561"/>
              </p:ext>
            </p:extLst>
          </p:nvPr>
        </p:nvGraphicFramePr>
        <p:xfrm>
          <a:off x="2183130" y="2217261"/>
          <a:ext cx="7825740" cy="21945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912870">
                  <a:extLst>
                    <a:ext uri="{9D8B030D-6E8A-4147-A177-3AD203B41FA5}">
                      <a16:colId xmlns:a16="http://schemas.microsoft.com/office/drawing/2014/main" val="2193424533"/>
                    </a:ext>
                  </a:extLst>
                </a:gridCol>
                <a:gridCol w="3912870">
                  <a:extLst>
                    <a:ext uri="{9D8B030D-6E8A-4147-A177-3AD203B41FA5}">
                      <a16:colId xmlns:a16="http://schemas.microsoft.com/office/drawing/2014/main" val="2165883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Cost (INR)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2885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NodeMCU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₹300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683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Ultrasonic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₹200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203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Power bank/HW</a:t>
                      </a:r>
                      <a:r>
                        <a:rPr lang="en-IN" baseline="0" dirty="0"/>
                        <a:t> battery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₹500/30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423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Other Materials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069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Total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₹1070-570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43212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C3F22-DDC4-E708-EEC5-23BB962D5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4114954-0EBE-70D3-2117-A03D6CBCE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7540" y="4888278"/>
            <a:ext cx="63385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hangingPunct="0"/>
            <a:r>
              <a:rPr lang="en-US" dirty="0"/>
              <a:t>✅ </a:t>
            </a:r>
            <a:r>
              <a:rPr lang="en-US" altLang="en-US" dirty="0">
                <a:latin typeface="Arial" panose="020B0604020202020204" pitchFamily="34" charset="0"/>
              </a:rPr>
              <a:t>Easily scalable for campuses, malls, and municipalities.</a:t>
            </a:r>
          </a:p>
          <a:p>
            <a:pPr lvl="0" defTabSz="914400" eaLnBrk="0" hangingPunct="0"/>
            <a:r>
              <a:rPr lang="en-US" dirty="0"/>
              <a:t>✅ </a:t>
            </a:r>
            <a:r>
              <a:rPr lang="en-US" altLang="en-US" dirty="0">
                <a:latin typeface="Arial" panose="020B0604020202020204" pitchFamily="34" charset="0"/>
              </a:rPr>
              <a:t>Uses open-source tools for minimal operating cost.</a:t>
            </a:r>
          </a:p>
        </p:txBody>
      </p:sp>
    </p:spTree>
    <p:extLst>
      <p:ext uri="{BB962C8B-B14F-4D97-AF65-F5344CB8AC3E}">
        <p14:creationId xmlns:p14="http://schemas.microsoft.com/office/powerpoint/2010/main" val="3143123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65929-8892-8FB4-EF04-B1B34FB8F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Sustainability &amp; Social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D158E-43A9-6F01-1C7B-0B64A487F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Reduces unnecessary fuel use for bin pickup trucks.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Promotes a cleaner campus and urban environment.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Aligns with Swachh Bharat, Smart City, and Sustainable Development Goals (SDGs).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Encourages data-driven decisions in public sanitation.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Prevents overflow and contamination in public spaces.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DDFE0-1AF3-F78F-16C7-AE48E277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35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D02CC-5962-6AC0-37EE-3A940ACF9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 &amp; Our Solutions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658F164-6D55-AB69-3C0A-E16FBBA532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4814790"/>
              </p:ext>
            </p:extLst>
          </p:nvPr>
        </p:nvGraphicFramePr>
        <p:xfrm>
          <a:off x="1733550" y="2058199"/>
          <a:ext cx="7981950" cy="18288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523033830"/>
                    </a:ext>
                  </a:extLst>
                </a:gridCol>
                <a:gridCol w="2617470">
                  <a:extLst>
                    <a:ext uri="{9D8B030D-6E8A-4147-A177-3AD203B41FA5}">
                      <a16:colId xmlns:a16="http://schemas.microsoft.com/office/drawing/2014/main" val="368464689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3797853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Our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47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Technical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Sensor Inaccuracy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Calibration, test cycles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20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Operational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Power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Rechargeable battery or solar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User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Mishandling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QR code for feedback &amp; awareness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7986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Too many bins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analytics to group by priority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25591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AEB38-B687-8C21-6F37-E9D5B9D6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810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599B-B8B9-5A81-AA18-50DA79A4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Future Scope and Enhancements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600A2-C413-369A-E30F-A6167443E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🧠 </a:t>
            </a:r>
            <a:r>
              <a:rPr lang="en-IN" sz="2800" dirty="0"/>
              <a:t>ML Algorithm to predict bin fill times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🌞 Solar Charging Module for off-grid operation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📱 Mobile App for staff on Android/iOS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🧪 Odor/Gas Sensor for foul smell detection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📊 Predictive Analysis for manpower planning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📌 Citizen Feedback via QR Code on bin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D43BCE-4C6D-6F4C-99A1-65CFE2A2A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26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72B6-4E0E-8403-B16D-3EB50AAE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Learned From citations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5D8D7-8AB6-14D3-5430-027AA4B27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“</a:t>
            </a:r>
            <a:r>
              <a:rPr lang="en-US" sz="2800" dirty="0"/>
              <a:t>From our research on 3 citations, </a:t>
            </a:r>
            <a:r>
              <a:rPr lang="en-US" sz="2800" u="sng" dirty="0"/>
              <a:t>we realized the value of real-time monitoring and intelligent alerts</a:t>
            </a:r>
            <a:r>
              <a:rPr lang="en-US" sz="2800" dirty="0"/>
              <a:t>. However, we also noticed that </a:t>
            </a:r>
            <a:r>
              <a:rPr lang="en-US" sz="2800" u="sng" dirty="0"/>
              <a:t>these commercial systems are often expensive and inaccessible for smaller institutions or rural areas</a:t>
            </a:r>
            <a:r>
              <a:rPr lang="en-US" sz="2800" dirty="0"/>
              <a:t>.”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257A0-C0B0-6807-B6A2-8AB71A20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188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6ED8-AC55-2C37-2F3C-9BC39F72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Our Model Builds On That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AE4D1CD-4641-C958-FAFD-698F2D2751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042275"/>
              </p:ext>
            </p:extLst>
          </p:nvPr>
        </p:nvGraphicFramePr>
        <p:xfrm>
          <a:off x="1384935" y="2446496"/>
          <a:ext cx="9422130" cy="18288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1916445172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770069067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3140844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citations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Our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88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Low-cost (₹1070 per unit)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789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Proprietary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Open-source (Thingspeak, XAMPP)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106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Commercial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DIY/Academic 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206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Customization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Highly customizable (dashboard, alerts, future scope)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321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6445D-6E8C-5EE5-8AC9-D23CF8D7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678703-5913-7920-BFD2-1F708763F6A9}"/>
              </a:ext>
            </a:extLst>
          </p:cNvPr>
          <p:cNvSpPr txBox="1"/>
          <p:nvPr/>
        </p:nvSpPr>
        <p:spPr>
          <a:xfrm>
            <a:off x="2667636" y="4567535"/>
            <a:ext cx="6097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So, while Google scholar is a great benchmark, our model is more </a:t>
            </a:r>
            <a:r>
              <a:rPr lang="en-US" b="1" dirty="0"/>
              <a:t>accessible, affordable, and flexible</a:t>
            </a:r>
            <a:r>
              <a:rPr lang="en-US" dirty="0"/>
              <a:t>—especially for campuses and smaller organizations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6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062CF-77DC-AC3B-59D5-3B3F08073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4E68-7C0B-FC56-01AA-42B4A01AF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✅ We’ve benchmarked our model against real-world solutions, and while inspired by them, we aim to offer a </a:t>
            </a:r>
            <a:r>
              <a:rPr lang="en-US" b="1" dirty="0"/>
              <a:t>more practical, budget-friendly, and scalable</a:t>
            </a:r>
            <a:r>
              <a:rPr lang="en-US" dirty="0"/>
              <a:t> smart bin system.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76C74-4BB6-28E6-3B99-85F5175C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4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FCF92-5F79-CD42-AD5B-D8FC311F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49158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Thank You!</a:t>
            </a:r>
            <a:br>
              <a:rPr lang="en-US" b="1" dirty="0"/>
            </a:br>
            <a:r>
              <a:rPr lang="en-US" b="1" dirty="0"/>
              <a:t>Let’s build cleaner cities with smarter bins.</a:t>
            </a:r>
            <a:br>
              <a:rPr lang="en-US" dirty="0"/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532C4-1518-F770-1442-48397261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74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D85982-5044-FB5F-684F-B95A03165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4E09C-84A7-F7F7-9AFB-D9865742E251}"/>
              </a:ext>
            </a:extLst>
          </p:cNvPr>
          <p:cNvSpPr txBox="1"/>
          <p:nvPr/>
        </p:nvSpPr>
        <p:spPr>
          <a:xfrm>
            <a:off x="3713497" y="2280727"/>
            <a:ext cx="4227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6915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7773</TotalTime>
  <Words>1044</Words>
  <Application>Microsoft Office PowerPoint</Application>
  <PresentationFormat>Widescreen</PresentationFormat>
  <Paragraphs>210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Amasis MT Pro Black</vt:lpstr>
      <vt:lpstr>Arial</vt:lpstr>
      <vt:lpstr>Calibri</vt:lpstr>
      <vt:lpstr>Courier New</vt:lpstr>
      <vt:lpstr>Garamond</vt:lpstr>
      <vt:lpstr>Times New Roman</vt:lpstr>
      <vt:lpstr>Wingdings</vt:lpstr>
      <vt:lpstr>Office Theme</vt:lpstr>
      <vt:lpstr>“Green society”</vt:lpstr>
      <vt:lpstr>The Problem We Aim to Solve </vt:lpstr>
      <vt:lpstr>Literature review</vt:lpstr>
      <vt:lpstr>Our Smart Solution at a Glance </vt:lpstr>
      <vt:lpstr>System Architecture</vt:lpstr>
      <vt:lpstr>Technology Stack </vt:lpstr>
      <vt:lpstr>Prototype Development</vt:lpstr>
      <vt:lpstr>Key Advantages of Our Model</vt:lpstr>
      <vt:lpstr>Feasibility &amp; Cost Estimation</vt:lpstr>
      <vt:lpstr>Sustainability &amp; Social Impact</vt:lpstr>
      <vt:lpstr>Challenges Faced &amp; Our Solutions</vt:lpstr>
      <vt:lpstr>Future Scope and Enhancements </vt:lpstr>
      <vt:lpstr>What We Learned From citations ?</vt:lpstr>
      <vt:lpstr>How Our Model Builds On That </vt:lpstr>
      <vt:lpstr>Key Message</vt:lpstr>
      <vt:lpstr>Thank You! Let’s build cleaner cities with smarter bins. </vt:lpstr>
      <vt:lpstr>PowerPoint Presentation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guru sarvesh</cp:lastModifiedBy>
  <cp:revision>180</cp:revision>
  <dcterms:created xsi:type="dcterms:W3CDTF">2013-12-12T18:46:50Z</dcterms:created>
  <dcterms:modified xsi:type="dcterms:W3CDTF">2026-04-13T16:21:48Z</dcterms:modified>
</cp:coreProperties>
</file>